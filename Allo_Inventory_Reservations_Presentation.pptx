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-914400"/>
            <a:ext cx="4572000" cy="4572000"/>
          </a:xfrm>
          <a:prstGeom prst="ellipse">
            <a:avLst/>
          </a:prstGeom>
          <a:solidFill>
            <a:srgbClr val="0D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9144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Allo Inventory Reservations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CCFBF1"/>
                </a:solidFill>
              </a:defRPr>
            </a:pPr>
            <a:r>
              <a:t>Multi-Warehouse Stock Reservation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9F6E4"/>
                </a:solidFill>
              </a:defRPr>
            </a:pPr>
            <a:r>
              <a:t>Preventing Overselling at Checkout  •  Next.js 15  •  PostgreSQL  •  Prisma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647084"/>
                </a:solidFill>
              </a:defRPr>
            </a:pPr>
            <a:r>
              <a:t>Allo Inventory Reservations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5E59"/>
                </a:solidFill>
              </a:defRPr>
            </a:pPr>
            <a: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8212F"/>
                </a:solidFill>
              </a:defRPr>
            </a:pPr>
            <a:r>
              <a:t>Problem Statement &amp; Business Context</a:t>
            </a:r>
          </a:p>
          <a:p>
            <a:pPr>
              <a:spcAft>
                <a:spcPts val="800"/>
              </a:spcAft>
              <a:defRPr sz="1600">
                <a:solidFill>
                  <a:srgbClr val="18212F"/>
                </a:solidFill>
              </a:defRPr>
            </a:pPr>
            <a:r>
              <a:t>Solution Overview &amp; Key Features</a:t>
            </a:r>
          </a:p>
          <a:p>
            <a:pPr>
              <a:spcAft>
                <a:spcPts val="800"/>
              </a:spcAft>
              <a:defRPr sz="1600">
                <a:solidFill>
                  <a:srgbClr val="18212F"/>
                </a:solidFill>
              </a:defRPr>
            </a:pPr>
            <a:r>
              <a:t>Technology Stack</a:t>
            </a:r>
          </a:p>
          <a:p>
            <a:pPr>
              <a:spcAft>
                <a:spcPts val="800"/>
              </a:spcAft>
              <a:defRPr sz="1600">
                <a:solidFill>
                  <a:srgbClr val="18212F"/>
                </a:solidFill>
              </a:defRPr>
            </a:pPr>
            <a:r>
              <a:t>System Architecture &amp; Design Patterns</a:t>
            </a:r>
          </a:p>
          <a:p>
            <a:pPr>
              <a:spcAft>
                <a:spcPts val="800"/>
              </a:spcAft>
              <a:defRPr sz="1600">
                <a:solidFill>
                  <a:srgbClr val="18212F"/>
                </a:solidFill>
              </a:defRPr>
            </a:pPr>
            <a:r>
              <a:t>Database Schema &amp; Data Model</a:t>
            </a:r>
          </a:p>
          <a:p>
            <a:pPr>
              <a:spcAft>
                <a:spcPts val="800"/>
              </a:spcAft>
              <a:defRPr sz="1600">
                <a:solidFill>
                  <a:srgbClr val="18212F"/>
                </a:solidFill>
              </a:defRPr>
            </a:pPr>
            <a:r>
              <a:t>Reservation Lifecycle &amp; State Machine</a:t>
            </a:r>
          </a:p>
          <a:p>
            <a:pPr>
              <a:spcAft>
                <a:spcPts val="800"/>
              </a:spcAft>
              <a:defRPr sz="1600">
                <a:solidFill>
                  <a:srgbClr val="18212F"/>
                </a:solidFill>
              </a:defRPr>
            </a:pPr>
            <a:r>
              <a:t>Concurrency &amp; Race Condition Handling</a:t>
            </a:r>
          </a:p>
          <a:p>
            <a:pPr>
              <a:spcAft>
                <a:spcPts val="800"/>
              </a:spcAft>
              <a:defRPr sz="1600">
                <a:solidFill>
                  <a:srgbClr val="18212F"/>
                </a:solidFill>
              </a:defRPr>
            </a:pPr>
            <a:r>
              <a:t>Expiry Strategy &amp; Idempotency</a:t>
            </a:r>
          </a:p>
          <a:p>
            <a:pPr>
              <a:spcAft>
                <a:spcPts val="800"/>
              </a:spcAft>
              <a:defRPr sz="1600">
                <a:solidFill>
                  <a:srgbClr val="18212F"/>
                </a:solidFill>
              </a:defRPr>
            </a:pPr>
            <a:r>
              <a:t>API Design &amp; Endpoints</a:t>
            </a:r>
          </a:p>
          <a:p>
            <a:pPr>
              <a:spcAft>
                <a:spcPts val="800"/>
              </a:spcAft>
              <a:defRPr sz="1600">
                <a:solidFill>
                  <a:srgbClr val="18212F"/>
                </a:solidFill>
              </a:defRPr>
            </a:pPr>
            <a:r>
              <a:t>Frontend UI/UX Design</a:t>
            </a:r>
          </a:p>
          <a:p>
            <a:pPr>
              <a:spcAft>
                <a:spcPts val="800"/>
              </a:spcAft>
              <a:defRPr sz="1600">
                <a:solidFill>
                  <a:srgbClr val="18212F"/>
                </a:solidFill>
              </a:defRPr>
            </a:pPr>
            <a:r>
              <a:t>Deployment &amp; DevOps</a:t>
            </a:r>
          </a:p>
          <a:p>
            <a:pPr>
              <a:spcAft>
                <a:spcPts val="800"/>
              </a:spcAft>
              <a:defRPr sz="1600">
                <a:solidFill>
                  <a:srgbClr val="18212F"/>
                </a:solidFill>
              </a:defRPr>
            </a:pPr>
            <a:r>
              <a:t>Trade-offs &amp; Future Roadmap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5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Problem &amp; Solution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647084"/>
                </a:solidFill>
              </a:defRPr>
            </a:pPr>
            <a:r>
              <a:t>Allo Inventory Reservations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5E59"/>
                </a:solidFill>
              </a:defRPr>
            </a:pPr>
            <a:r>
              <a:t>The Problem: Overselling at Checkout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084"/>
                </a:solidFill>
              </a:defRPr>
            </a:pPr>
            <a:r>
              <a:t>Why inventory reservation matters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8212F"/>
                </a:solidFill>
              </a:defRPr>
            </a:pPr>
            <a:r>
              <a:t>E-commerce platforms face a critical challenge when multiple customers attempt to purchase the last available unit simultaneously.</a:t>
            </a:r>
          </a:p>
          <a:p>
            <a:pPr>
              <a:spcAft>
                <a:spcPts val="800"/>
              </a:spcAft>
              <a:defRPr sz="1600">
                <a:solidFill>
                  <a:srgbClr val="18212F"/>
                </a:solidFill>
              </a:defRPr>
            </a:pPr>
            <a:r>
              <a:t>Without proper inventory locking, race conditions cause overselling — selling more units than physically available.</a:t>
            </a:r>
          </a:p>
          <a:p>
            <a:pPr>
              <a:spcAft>
                <a:spcPts val="800"/>
              </a:spcAft>
              <a:defRPr sz="1600">
                <a:solidFill>
                  <a:srgbClr val="18212F"/>
                </a:solidFill>
              </a:defRPr>
            </a:pPr>
            <a:r>
              <a:t>Abandoned checkouts leave inventory locked indefinitely, reducing sellable stock.</a:t>
            </a:r>
          </a:p>
          <a:p>
            <a:pPr>
              <a:spcAft>
                <a:spcPts val="800"/>
              </a:spcAft>
              <a:defRPr sz="1600">
                <a:solidFill>
                  <a:srgbClr val="18212F"/>
                </a:solidFill>
              </a:defRPr>
            </a:pPr>
            <a:r>
              <a:t>Multi-warehouse operations add complexity: stock must be tracked per location with accurate availability.</a:t>
            </a:r>
          </a:p>
          <a:p>
            <a:pPr>
              <a:spcAft>
                <a:spcPts val="800"/>
              </a:spcAft>
              <a:defRPr sz="1600">
                <a:solidFill>
                  <a:srgbClr val="18212F"/>
                </a:solidFill>
              </a:defRPr>
            </a:pPr>
            <a:r>
              <a:t>Payment failures must gracefully return units to available inventory without manual intervention.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647084"/>
                </a:solidFill>
              </a:defRPr>
            </a:pPr>
            <a:r>
              <a:t>Allo Inventory Reservations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5E59"/>
                </a:solidFill>
              </a:defRPr>
            </a:pPr>
            <a:r>
              <a:t>Our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084"/>
                </a:solidFill>
              </a:defRPr>
            </a:pPr>
            <a:r>
              <a:t>A production-ready reservation system built for reliability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8212F"/>
                </a:solidFill>
              </a:defRPr>
            </a:pPr>
            <a:r>
              <a:t>Temporary 10-minute stock holds when a customer proceeds to checkout.</a:t>
            </a:r>
          </a:p>
          <a:p>
            <a:pPr>
              <a:spcAft>
                <a:spcPts val="800"/>
              </a:spcAft>
              <a:defRPr sz="1600">
                <a:solidFill>
                  <a:srgbClr val="18212F"/>
                </a:solidFill>
              </a:defRPr>
            </a:pPr>
            <a:r>
              <a:t>Atomic, database-level concurrency control prevents overselling under high traffic.</a:t>
            </a:r>
          </a:p>
          <a:p>
            <a:pPr>
              <a:spcAft>
                <a:spcPts val="800"/>
              </a:spcAft>
              <a:defRPr sz="1600">
                <a:solidFill>
                  <a:srgbClr val="18212F"/>
                </a:solidFill>
              </a:defRPr>
            </a:pPr>
            <a:r>
              <a:t>Three-state reservation lifecycle: PENDING → CONFIRMED or RELEASED.</a:t>
            </a:r>
          </a:p>
          <a:p>
            <a:pPr>
              <a:spcAft>
                <a:spcPts val="800"/>
              </a:spcAft>
              <a:defRPr sz="1600">
                <a:solidFill>
                  <a:srgbClr val="18212F"/>
                </a:solidFill>
              </a:defRPr>
            </a:pPr>
            <a:r>
              <a:t>Automatic expiry cleanup returns abandoned holds to available inventory.</a:t>
            </a:r>
          </a:p>
          <a:p>
            <a:pPr>
              <a:spcAft>
                <a:spcPts val="800"/>
              </a:spcAft>
              <a:defRPr sz="1600">
                <a:solidFill>
                  <a:srgbClr val="18212F"/>
                </a:solidFill>
              </a:defRPr>
            </a:pPr>
            <a:r>
              <a:t>Idempotent API design ensures safe retries during payment processing.</a:t>
            </a:r>
          </a:p>
          <a:p>
            <a:pPr>
              <a:spcAft>
                <a:spcPts val="800"/>
              </a:spcAft>
              <a:defRPr sz="1600">
                <a:solidFill>
                  <a:srgbClr val="18212F"/>
                </a:solidFill>
              </a:defRPr>
            </a:pPr>
            <a:r>
              <a:t>Multi-warehouse support with per-location stock tracking (total, reserved, available).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5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Technology Stack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647084"/>
                </a:solidFill>
              </a:defRPr>
            </a:pPr>
            <a:r>
              <a:t>Allo Inventory Reservations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5E59"/>
                </a:solidFill>
              </a:defRPr>
            </a:pPr>
            <a:r>
              <a:t>Technology Stack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88720"/>
            <a:ext cx="5303520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32588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766E"/>
                </a:solidFill>
              </a:defRPr>
            </a:pPr>
            <a:r>
              <a:t>Frontend &amp; Framework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8212F"/>
                </a:solidFill>
              </a:defRPr>
            </a:pPr>
            <a:r>
              <a:t>• Next.js 15.3 — App Router, API Routes</a:t>
            </a:r>
          </a:p>
          <a:p>
            <a:pPr>
              <a:spcAft>
                <a:spcPts val="600"/>
              </a:spcAft>
              <a:defRPr sz="1400">
                <a:solidFill>
                  <a:srgbClr val="18212F"/>
                </a:solidFill>
              </a:defRPr>
            </a:pPr>
            <a:r>
              <a:t>• React 19 — Client &amp; Server Components</a:t>
            </a:r>
          </a:p>
          <a:p>
            <a:pPr>
              <a:spcAft>
                <a:spcPts val="600"/>
              </a:spcAft>
              <a:defRPr sz="1400">
                <a:solidFill>
                  <a:srgbClr val="18212F"/>
                </a:solidFill>
              </a:defRPr>
            </a:pPr>
            <a:r>
              <a:t>• TypeScript 5.8 — Strict type safety</a:t>
            </a:r>
          </a:p>
          <a:p>
            <a:pPr>
              <a:spcAft>
                <a:spcPts val="600"/>
              </a:spcAft>
              <a:defRPr sz="1400">
                <a:solidFill>
                  <a:srgbClr val="18212F"/>
                </a:solidFill>
              </a:defRPr>
            </a:pPr>
            <a:r>
              <a:t>• Custom CSS — Teal brand design system</a:t>
            </a:r>
          </a:p>
          <a:p>
            <a:pPr>
              <a:spcAft>
                <a:spcPts val="600"/>
              </a:spcAft>
              <a:defRPr sz="1400">
                <a:solidFill>
                  <a:srgbClr val="18212F"/>
                </a:solidFill>
              </a:defRPr>
            </a:pPr>
            <a:r>
              <a:t>• No external UI library — lightweight &amp; fast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188720"/>
            <a:ext cx="5303520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32588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766E"/>
                </a:solidFill>
              </a:defRPr>
            </a:pPr>
            <a:r>
              <a:t>Backend &amp; Infrastructure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8288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8212F"/>
                </a:solidFill>
              </a:defRPr>
            </a:pPr>
            <a:r>
              <a:t>• PostgreSQL — Hosted (Supabase / Neon)</a:t>
            </a:r>
          </a:p>
          <a:p>
            <a:pPr>
              <a:spcAft>
                <a:spcPts val="600"/>
              </a:spcAft>
              <a:defRPr sz="1400">
                <a:solidFill>
                  <a:srgbClr val="18212F"/>
                </a:solidFill>
              </a:defRPr>
            </a:pPr>
            <a:r>
              <a:t>• Prisma 6.8 — ORM &amp; migrations</a:t>
            </a:r>
          </a:p>
          <a:p>
            <a:pPr>
              <a:spcAft>
                <a:spcPts val="600"/>
              </a:spcAft>
              <a:defRPr sz="1400">
                <a:solidFill>
                  <a:srgbClr val="18212F"/>
                </a:solidFill>
              </a:defRPr>
            </a:pPr>
            <a:r>
              <a:t>• Zod 3.24 — Request validation</a:t>
            </a:r>
          </a:p>
          <a:p>
            <a:pPr>
              <a:spcAft>
                <a:spcPts val="600"/>
              </a:spcAft>
              <a:defRPr sz="1400">
                <a:solidFill>
                  <a:srgbClr val="18212F"/>
                </a:solidFill>
              </a:defRPr>
            </a:pPr>
            <a:r>
              <a:t>• Vercel — Serverless deployment</a:t>
            </a:r>
          </a:p>
          <a:p>
            <a:pPr>
              <a:spcAft>
                <a:spcPts val="600"/>
              </a:spcAft>
              <a:defRPr sz="1400">
                <a:solidFill>
                  <a:srgbClr val="18212F"/>
                </a:solidFill>
              </a:defRPr>
            </a:pPr>
            <a:r>
              <a:t>• ESLint 9 — Code quality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5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Architecture &amp; Design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647084"/>
                </a:solidFill>
              </a:defRPr>
            </a:pPr>
            <a:r>
              <a:t>Allo Inventory Reservations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5E59"/>
                </a:solidFill>
              </a:defRPr>
            </a:pPr>
            <a:r>
              <a:t>System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084"/>
                </a:solidFill>
              </a:defRPr>
            </a:pPr>
            <a:r>
              <a:t>Four-tier layered architecture with production patterns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8212F"/>
                </a:solidFill>
              </a:defRPr>
            </a:pPr>
            <a:r>
              <a:t>Layered Architecture — Clean separation of concerns across four tiers:</a:t>
            </a:r>
          </a:p>
          <a:p>
            <a:pPr lvl="1">
              <a:spcAft>
                <a:spcPts val="800"/>
              </a:spcAft>
              <a:defRPr sz="1400">
                <a:solidFill>
                  <a:srgbClr val="647084"/>
                </a:solidFill>
              </a:defRPr>
            </a:pPr>
            <a:r>
              <a:t>Presentation Layer — React client components (inventory-app, reservation-detail)</a:t>
            </a:r>
          </a:p>
          <a:p>
            <a:pPr lvl="1">
              <a:spcAft>
                <a:spcPts val="800"/>
              </a:spcAft>
              <a:defRPr sz="1400">
                <a:solidFill>
                  <a:srgbClr val="647084"/>
                </a:solidFill>
              </a:defRPr>
            </a:pPr>
            <a:r>
              <a:t>API Layer — Next.js App Router route handlers (/api/*)</a:t>
            </a:r>
          </a:p>
          <a:p>
            <a:pPr lvl="1">
              <a:spcAft>
                <a:spcPts val="800"/>
              </a:spcAft>
              <a:defRPr sz="1400">
                <a:solidFill>
                  <a:srgbClr val="647084"/>
                </a:solidFill>
              </a:defRPr>
            </a:pPr>
            <a:r>
              <a:t>Business Logic Layer — lib/reservations.ts, idempotency.ts, validation.ts</a:t>
            </a:r>
          </a:p>
          <a:p>
            <a:pPr lvl="1">
              <a:spcAft>
                <a:spcPts val="800"/>
              </a:spcAft>
              <a:defRPr sz="1400">
                <a:solidFill>
                  <a:srgbClr val="647084"/>
                </a:solidFill>
              </a:defRPr>
            </a:pPr>
            <a:r>
              <a:t>Data Access Layer — Prisma ORM → PostgreSQL</a:t>
            </a:r>
          </a:p>
          <a:p>
            <a:pPr>
              <a:spcAft>
                <a:spcPts val="800"/>
              </a:spcAft>
              <a:defRPr sz="1600">
                <a:solidFill>
                  <a:srgbClr val="18212F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8212F"/>
                </a:solidFill>
              </a:defRPr>
            </a:pPr>
            <a:r>
              <a:t>Key Design Patterns:</a:t>
            </a:r>
          </a:p>
          <a:p>
            <a:pPr lvl="1">
              <a:spcAft>
                <a:spcPts val="800"/>
              </a:spcAft>
              <a:defRPr sz="1400">
                <a:solidFill>
                  <a:srgbClr val="647084"/>
                </a:solidFill>
              </a:defRPr>
            </a:pPr>
            <a:r>
              <a:t>Transactional boundaries — All stock mutations in prisma.$transaction() with 15s timeout</a:t>
            </a:r>
          </a:p>
          <a:p>
            <a:pPr lvl="1">
              <a:spcAft>
                <a:spcPts val="800"/>
              </a:spcAft>
              <a:defRPr sz="1400">
                <a:solidFill>
                  <a:srgbClr val="647084"/>
                </a:solidFill>
              </a:defRPr>
            </a:pPr>
            <a:r>
              <a:t>Optimistic concurrency — Conditional updateMany on reservation status</a:t>
            </a:r>
          </a:p>
          <a:p>
            <a:pPr lvl="1">
              <a:spcAft>
                <a:spcPts val="800"/>
              </a:spcAft>
              <a:defRPr sz="1400">
                <a:solidFill>
                  <a:srgbClr val="647084"/>
                </a:solidFill>
              </a:defRPr>
            </a:pPr>
            <a:r>
              <a:t>Idempotency middleware — DB-backed deduplication via runIdempotently()</a:t>
            </a:r>
          </a:p>
          <a:p>
            <a:pPr lvl="1">
              <a:spcAft>
                <a:spcPts val="800"/>
              </a:spcAft>
              <a:defRPr sz="1400">
                <a:solidFill>
                  <a:srgbClr val="647084"/>
                </a:solidFill>
              </a:defRPr>
            </a:pPr>
            <a:r>
              <a:t>Lazy + scheduled cleanup — Dual expiry strategy for reliability</a:t>
            </a:r>
          </a:p>
          <a:p>
            <a:pPr lvl="1">
              <a:spcAft>
                <a:spcPts val="800"/>
              </a:spcAft>
              <a:defRPr sz="1400">
                <a:solidFill>
                  <a:srgbClr val="647084"/>
                </a:solidFill>
              </a:defRPr>
            </a:pPr>
            <a:r>
              <a:t>Raw SQL for critical paths — Atomic stock updates via $executeRaw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647084"/>
                </a:solidFill>
              </a:defRPr>
            </a:pPr>
            <a:r>
              <a:t>Allo Inventory Reservations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5E59"/>
                </a:solidFill>
              </a:defRPr>
            </a:pPr>
            <a:r>
              <a:t>Project 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084"/>
                </a:solidFill>
              </a:defRPr>
            </a:pPr>
            <a:r>
              <a:t>Organized for maintainability and clear separation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8212F"/>
                </a:solidFill>
              </a:defRPr>
            </a:pPr>
            <a:r>
              <a:t>app/ — Next.js App Router (pages + API routes)</a:t>
            </a:r>
          </a:p>
          <a:p>
            <a:pPr lvl="1">
              <a:spcAft>
                <a:spcPts val="800"/>
              </a:spcAft>
              <a:defRPr sz="1400">
                <a:solidFill>
                  <a:srgbClr val="647084"/>
                </a:solidFill>
              </a:defRPr>
            </a:pPr>
            <a:r>
              <a:t>  page.tsx — Home / product listing</a:t>
            </a:r>
          </a:p>
          <a:p>
            <a:pPr lvl="1">
              <a:spcAft>
                <a:spcPts val="800"/>
              </a:spcAft>
              <a:defRPr sz="1400">
                <a:solidFill>
                  <a:srgbClr val="647084"/>
                </a:solidFill>
              </a:defRPr>
            </a:pPr>
            <a:r>
              <a:t>  reservations/[id]/page.tsx — Checkout page</a:t>
            </a:r>
          </a:p>
          <a:p>
            <a:pPr lvl="1">
              <a:spcAft>
                <a:spcPts val="800"/>
              </a:spcAft>
              <a:defRPr sz="1400">
                <a:solidFill>
                  <a:srgbClr val="647084"/>
                </a:solidFill>
              </a:defRPr>
            </a:pPr>
            <a:r>
              <a:t>  api/products, warehouses, reservations, cron — REST endpoints</a:t>
            </a:r>
          </a:p>
          <a:p>
            <a:pPr>
              <a:spcAft>
                <a:spcPts val="800"/>
              </a:spcAft>
              <a:defRPr sz="1600">
                <a:solidFill>
                  <a:srgbClr val="18212F"/>
                </a:solidFill>
              </a:defRPr>
            </a:pPr>
            <a:r>
              <a:t>components/ — React UI components</a:t>
            </a:r>
          </a:p>
          <a:p>
            <a:pPr lvl="1">
              <a:spcAft>
                <a:spcPts val="800"/>
              </a:spcAft>
              <a:defRPr sz="1400">
                <a:solidFill>
                  <a:srgbClr val="647084"/>
                </a:solidFill>
              </a:defRPr>
            </a:pPr>
            <a:r>
              <a:t>  inventory-app.tsx — Product grid, stock table, reserve actions</a:t>
            </a:r>
          </a:p>
          <a:p>
            <a:pPr lvl="1">
              <a:spcAft>
                <a:spcPts val="800"/>
              </a:spcAft>
              <a:defRPr sz="1400">
                <a:solidFill>
                  <a:srgbClr val="647084"/>
                </a:solidFill>
              </a:defRPr>
            </a:pPr>
            <a:r>
              <a:t>  reservation-detail.tsx — Countdown timer, confirm/cancel</a:t>
            </a:r>
          </a:p>
          <a:p>
            <a:pPr>
              <a:spcAft>
                <a:spcPts val="800"/>
              </a:spcAft>
              <a:defRPr sz="1600">
                <a:solidFill>
                  <a:srgbClr val="18212F"/>
                </a:solidFill>
              </a:defRPr>
            </a:pPr>
            <a:r>
              <a:t>lib/ — Core business logic</a:t>
            </a:r>
          </a:p>
          <a:p>
            <a:pPr lvl="1">
              <a:spcAft>
                <a:spcPts val="800"/>
              </a:spcAft>
              <a:defRPr sz="1400">
                <a:solidFill>
                  <a:srgbClr val="647084"/>
                </a:solidFill>
              </a:defRPr>
            </a:pPr>
            <a:r>
              <a:t>  reservations.ts — Create, confirm, release, expiry cleanup</a:t>
            </a:r>
          </a:p>
          <a:p>
            <a:pPr lvl="1">
              <a:spcAft>
                <a:spcPts val="800"/>
              </a:spcAft>
              <a:defRPr sz="1400">
                <a:solidFill>
                  <a:srgbClr val="647084"/>
                </a:solidFill>
              </a:defRPr>
            </a:pPr>
            <a:r>
              <a:t>  idempotency.ts — Safe retry handling</a:t>
            </a:r>
          </a:p>
          <a:p>
            <a:pPr>
              <a:spcAft>
                <a:spcPts val="800"/>
              </a:spcAft>
              <a:defRPr sz="1600">
                <a:solidFill>
                  <a:srgbClr val="18212F"/>
                </a:solidFill>
              </a:defRPr>
            </a:pPr>
            <a:r>
              <a:t>prisma/ — Schema, migrations, seed data</a:t>
            </a:r>
          </a:p>
          <a:p>
            <a:pPr>
              <a:spcAft>
                <a:spcPts val="800"/>
              </a:spcAft>
              <a:defRPr sz="1600">
                <a:solidFill>
                  <a:srgbClr val="18212F"/>
                </a:solidFill>
              </a:defRPr>
            </a:pPr>
            <a:r>
              <a:t>scripts/ — Concurrency smoke test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5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Database Design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647084"/>
                </a:solidFill>
              </a:defRPr>
            </a:pPr>
            <a:r>
              <a:t>Allo Inventory Reservations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5E59"/>
                </a:solidFill>
              </a:defRPr>
            </a:pPr>
            <a:r>
              <a:t>Database Schema — 5 Tables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084"/>
                </a:solidFill>
              </a:defRPr>
            </a:pPr>
            <a:r>
              <a:t>PostgreSQL with Prisma 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8212F"/>
                </a:solidFill>
              </a:defRPr>
            </a:pPr>
            <a:r>
              <a:t>Product — id, name, sku (unique), description</a:t>
            </a:r>
          </a:p>
          <a:p>
            <a:pPr>
              <a:spcAft>
                <a:spcPts val="800"/>
              </a:spcAft>
              <a:defRPr sz="1600">
                <a:solidFill>
                  <a:srgbClr val="18212F"/>
                </a:solidFill>
              </a:defRPr>
            </a:pPr>
            <a:r>
              <a:t>Warehouse — id, name, code (unique), city</a:t>
            </a:r>
          </a:p>
          <a:p>
            <a:pPr>
              <a:spcAft>
                <a:spcPts val="800"/>
              </a:spcAft>
              <a:defRPr sz="1600">
                <a:solidFill>
                  <a:srgbClr val="18212F"/>
                </a:solidFill>
              </a:defRPr>
            </a:pPr>
            <a:r>
              <a:t>StockLevel — productId + warehouseId (unique), totalUnits, reservedUnits</a:t>
            </a:r>
          </a:p>
          <a:p>
            <a:pPr lvl="1">
              <a:spcAft>
                <a:spcPts val="800"/>
              </a:spcAft>
              <a:defRPr sz="1400">
                <a:solidFill>
                  <a:srgbClr val="647084"/>
                </a:solidFill>
              </a:defRPr>
            </a:pPr>
            <a:r>
              <a:t>availableUnits = totalUnits - reservedUnits (computed, not stored)</a:t>
            </a:r>
          </a:p>
          <a:p>
            <a:pPr>
              <a:spcAft>
                <a:spcPts val="800"/>
              </a:spcAft>
              <a:defRPr sz="1600">
                <a:solidFill>
                  <a:srgbClr val="18212F"/>
                </a:solidFill>
              </a:defRPr>
            </a:pPr>
            <a:r>
              <a:t>Reservation — productId, warehouseId, quantity, status, expiresAt</a:t>
            </a:r>
          </a:p>
          <a:p>
            <a:pPr lvl="1">
              <a:spcAft>
                <a:spcPts val="800"/>
              </a:spcAft>
              <a:defRPr sz="1400">
                <a:solidFill>
                  <a:srgbClr val="647084"/>
                </a:solidFill>
              </a:defRPr>
            </a:pPr>
            <a:r>
              <a:t>Status enum: PENDING | CONFIRMED | RELEASED</a:t>
            </a:r>
          </a:p>
          <a:p>
            <a:pPr lvl="1">
              <a:spcAft>
                <a:spcPts val="800"/>
              </a:spcAft>
              <a:defRPr sz="1400">
                <a:solidFill>
                  <a:srgbClr val="647084"/>
                </a:solidFill>
              </a:defRPr>
            </a:pPr>
            <a:r>
              <a:t>Indexes: (status, expiresAt), (productId, warehouseId)</a:t>
            </a:r>
          </a:p>
          <a:p>
            <a:pPr>
              <a:spcAft>
                <a:spcPts val="800"/>
              </a:spcAft>
              <a:defRPr sz="1600">
                <a:solidFill>
                  <a:srgbClr val="18212F"/>
                </a:solidFill>
              </a:defRPr>
            </a:pPr>
            <a:r>
              <a:t>IdempotencyRecord — key + method + path (unique), response JSON cache</a:t>
            </a:r>
          </a:p>
          <a:p>
            <a:pPr>
              <a:spcAft>
                <a:spcPts val="800"/>
              </a:spcAft>
              <a:defRPr sz="1600">
                <a:solidFill>
                  <a:srgbClr val="18212F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8212F"/>
                </a:solidFill>
              </a:defRPr>
            </a:pPr>
            <a:r>
              <a:t>Seed Data: 5 warehouses, 10 products, 50 stock levels, 4 sample reservations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647084"/>
                </a:solidFill>
              </a:defRPr>
            </a:pPr>
            <a:r>
              <a:t>Allo Inventory Reservations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5E59"/>
                </a:solidFill>
              </a:defRPr>
            </a:pPr>
            <a:r>
              <a:t>Reservation Lifecycle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1828800" cy="16459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RESERVE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6888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E0F2F1"/>
                </a:solidFill>
              </a:defRPr>
            </a:pPr>
            <a:r>
              <a:t>Customer clicks</a:t>
            </a:r>
            <a:br/>
            <a:r>
              <a:t>Reserve button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537460" y="2468880"/>
            <a:ext cx="746760" cy="274320"/>
          </a:xfrm>
          <a:prstGeom prst="rightArrow">
            <a:avLst/>
          </a:prstGeom>
          <a:solidFill>
            <a:srgbClr val="647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44240" y="1828800"/>
            <a:ext cx="1828800" cy="164592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35680" y="19659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PENDING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35680" y="246888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E0F2F1"/>
                </a:solidFill>
              </a:defRPr>
            </a:pPr>
            <a:r>
              <a:t>10-min hold</a:t>
            </a:r>
            <a:br/>
            <a:r>
              <a:t>Units reserved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433060" y="2468880"/>
            <a:ext cx="746760" cy="274320"/>
          </a:xfrm>
          <a:prstGeom prst="rightArrow">
            <a:avLst/>
          </a:prstGeom>
          <a:solidFill>
            <a:srgbClr val="647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39840" y="1828800"/>
            <a:ext cx="1828800" cy="16459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31280" y="19659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CONFIRM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1280" y="246888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E0F2F1"/>
                </a:solidFill>
              </a:defRPr>
            </a:pPr>
            <a:r>
              <a:t>Payment succeeds</a:t>
            </a:r>
            <a:br/>
            <a:r>
              <a:t>Stock decremented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328660" y="2468880"/>
            <a:ext cx="746760" cy="274320"/>
          </a:xfrm>
          <a:prstGeom prst="rightArrow">
            <a:avLst/>
          </a:prstGeom>
          <a:solidFill>
            <a:srgbClr val="647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235440" y="1828800"/>
            <a:ext cx="1828800" cy="1645920"/>
          </a:xfrm>
          <a:prstGeom prst="round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0" y="19659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RELEASE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246888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E0F2F1"/>
                </a:solidFill>
              </a:defRPr>
            </a:pPr>
            <a:r>
              <a:t>Cancel or expire</a:t>
            </a:r>
            <a:br/>
            <a:r>
              <a:t>Units returned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647084"/>
                </a:solidFill>
              </a:defRPr>
            </a:pPr>
            <a:r>
              <a:t>Allo Inventory Reservations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5E59"/>
                </a:solidFill>
              </a:defRPr>
            </a:pPr>
            <a:r>
              <a:t>State Transitions Detail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084"/>
                </a:solidFill>
              </a:defRPr>
            </a:pPr>
            <a:r>
              <a:t>Every transition is atomic and guarded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8212F"/>
                </a:solidFill>
              </a:defRPr>
            </a:pPr>
            <a:r>
              <a:t>PENDING — Created on reserve. reservedUnits incremented. expiresAt = now + 10 min.</a:t>
            </a:r>
          </a:p>
          <a:p>
            <a:pPr>
              <a:spcAft>
                <a:spcPts val="800"/>
              </a:spcAft>
              <a:defRPr sz="1600">
                <a:solidFill>
                  <a:srgbClr val="18212F"/>
                </a:solidFill>
              </a:defRPr>
            </a:pPr>
            <a:r>
              <a:t>CONFIRMED — Payment success. totalUnits AND reservedUnits both decremented. Permanent sale.</a:t>
            </a:r>
          </a:p>
          <a:p>
            <a:pPr>
              <a:spcAft>
                <a:spcPts val="800"/>
              </a:spcAft>
              <a:defRPr sz="1600">
                <a:solidFill>
                  <a:srgbClr val="18212F"/>
                </a:solidFill>
              </a:defRPr>
            </a:pPr>
            <a:r>
              <a:t>RELEASED — Cancel or expiry. Only reservedUnits decremented. Units return to available.</a:t>
            </a:r>
          </a:p>
          <a:p>
            <a:pPr>
              <a:spcAft>
                <a:spcPts val="800"/>
              </a:spcAft>
              <a:defRPr sz="1600">
                <a:solidFill>
                  <a:srgbClr val="18212F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8212F"/>
                </a:solidFill>
              </a:defRPr>
            </a:pPr>
            <a:r>
              <a:t>Guards &amp; Validations:</a:t>
            </a:r>
          </a:p>
          <a:p>
            <a:pPr lvl="1">
              <a:spcAft>
                <a:spcPts val="800"/>
              </a:spcAft>
              <a:defRPr sz="1400">
                <a:solidFill>
                  <a:srgbClr val="647084"/>
                </a:solidFill>
              </a:defRPr>
            </a:pPr>
            <a:r>
              <a:t>Cannot confirm a RELEASED reservation → 409 RESERVATION_RELEASED</a:t>
            </a:r>
          </a:p>
          <a:p>
            <a:pPr lvl="1">
              <a:spcAft>
                <a:spcPts val="800"/>
              </a:spcAft>
              <a:defRPr sz="1400">
                <a:solidFill>
                  <a:srgbClr val="647084"/>
                </a:solidFill>
              </a:defRPr>
            </a:pPr>
            <a:r>
              <a:t>Cannot confirm an expired reservation → 410 RESERVATION_EXPIRED</a:t>
            </a:r>
          </a:p>
          <a:p>
            <a:pPr lvl="1">
              <a:spcAft>
                <a:spcPts val="800"/>
              </a:spcAft>
              <a:defRPr sz="1400">
                <a:solidFill>
                  <a:srgbClr val="647084"/>
                </a:solidFill>
              </a:defRPr>
            </a:pPr>
            <a:r>
              <a:t>Cannot release a CONFIRMED reservation → 409 ALREADY_CONFIRMED</a:t>
            </a:r>
          </a:p>
          <a:p>
            <a:pPr lvl="1">
              <a:spcAft>
                <a:spcPts val="800"/>
              </a:spcAft>
              <a:defRPr sz="1400">
                <a:solidFill>
                  <a:srgbClr val="647084"/>
                </a:solidFill>
              </a:defRPr>
            </a:pPr>
            <a:r>
              <a:t>Insufficient stock on reserve → 409 INSUFFICIENT_STOCK</a:t>
            </a:r>
          </a:p>
          <a:p>
            <a:pPr lvl="1">
              <a:spcAft>
                <a:spcPts val="800"/>
              </a:spcAft>
              <a:defRPr sz="1400">
                <a:solidFill>
                  <a:srgbClr val="647084"/>
                </a:solidFill>
              </a:defRPr>
            </a:pPr>
            <a:r>
              <a:t>Conditional status update prevents double-confirm or double-release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5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Concurrency &amp; Reliability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647084"/>
                </a:solidFill>
              </a:defRPr>
            </a:pPr>
            <a:r>
              <a:t>Allo Inventory Reservations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5E59"/>
                </a:solidFill>
              </a:defRPr>
            </a:pPr>
            <a:r>
              <a:t>Concurrency Handling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084"/>
                </a:solidFill>
              </a:defRPr>
            </a:pPr>
            <a:r>
              <a:t>Race-condition safe by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8212F"/>
                </a:solidFill>
              </a:defRPr>
            </a:pPr>
            <a:r>
              <a:t>Core mechanism — Single guarded SQL UPDATE inside a Prisma transaction:</a:t>
            </a:r>
          </a:p>
          <a:p>
            <a:pPr>
              <a:spcAft>
                <a:spcPts val="800"/>
              </a:spcAft>
              <a:defRPr sz="1600">
                <a:solidFill>
                  <a:srgbClr val="18212F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8212F"/>
                </a:solidFill>
              </a:defRPr>
            </a:pPr>
            <a:r>
              <a:t>UPDATE "StockLevel" SET "reservedUnits" = "reservedUnits" + qty</a:t>
            </a:r>
          </a:p>
          <a:p>
            <a:pPr>
              <a:spcAft>
                <a:spcPts val="800"/>
              </a:spcAft>
              <a:defRPr sz="1600">
                <a:solidFill>
                  <a:srgbClr val="18212F"/>
                </a:solidFill>
              </a:defRPr>
            </a:pPr>
            <a:r>
              <a:t>WHERE productId = ? AND warehouseId = ?</a:t>
            </a:r>
          </a:p>
          <a:p>
            <a:pPr>
              <a:spcAft>
                <a:spcPts val="800"/>
              </a:spcAft>
              <a:defRPr sz="1600">
                <a:solidFill>
                  <a:srgbClr val="18212F"/>
                </a:solidFill>
              </a:defRPr>
            </a:pPr>
            <a:r>
              <a:t>  AND (totalUnits - reservedUnits) &gt;= qty</a:t>
            </a:r>
          </a:p>
          <a:p>
            <a:pPr>
              <a:spcAft>
                <a:spcPts val="800"/>
              </a:spcAft>
              <a:defRPr sz="1600">
                <a:solidFill>
                  <a:srgbClr val="18212F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8212F"/>
                </a:solidFill>
              </a:defRPr>
            </a:pPr>
            <a:r>
              <a:t>Postgres row-level lock ensures only one transaction updates a stock row at a time.</a:t>
            </a:r>
          </a:p>
          <a:p>
            <a:pPr>
              <a:spcAft>
                <a:spcPts val="800"/>
              </a:spcAft>
              <a:defRPr sz="1600">
                <a:solidFill>
                  <a:srgbClr val="18212F"/>
                </a:solidFill>
              </a:defRPr>
            </a:pPr>
            <a:r>
              <a:t>If two requests race for the last unit: first wins, second gets 0 rows updated → 409.</a:t>
            </a:r>
          </a:p>
          <a:p>
            <a:pPr>
              <a:spcAft>
                <a:spcPts val="800"/>
              </a:spcAft>
              <a:defRPr sz="1600">
                <a:solidFill>
                  <a:srgbClr val="18212F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8212F"/>
                </a:solidFill>
              </a:defRPr>
            </a:pPr>
            <a:r>
              <a:t>Verified by concurrency smoke test:</a:t>
            </a:r>
          </a:p>
          <a:p>
            <a:pPr lvl="1">
              <a:spcAft>
                <a:spcPts val="800"/>
              </a:spcAft>
              <a:defRPr sz="1400">
                <a:solidFill>
                  <a:srgbClr val="647084"/>
                </a:solidFill>
              </a:defRPr>
            </a:pPr>
            <a:r>
              <a:t>8 parallel requests on 1 available unit → 1 success + 7 failures (409)</a:t>
            </a:r>
          </a:p>
          <a:p>
            <a:pPr lvl="1">
              <a:spcAft>
                <a:spcPts val="800"/>
              </a:spcAft>
              <a:defRPr sz="1400">
                <a:solidFill>
                  <a:srgbClr val="647084"/>
                </a:solidFill>
              </a:defRPr>
            </a:pPr>
            <a:r>
              <a:t>Run: npm run test:concurrency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647084"/>
                </a:solidFill>
              </a:defRPr>
            </a:pPr>
            <a:r>
              <a:t>Allo Inventory Reservations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5E59"/>
                </a:solidFill>
              </a:defRPr>
            </a:pPr>
            <a:r>
              <a:t>Expiry &amp; Idempotency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88720"/>
            <a:ext cx="5303520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32588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766E"/>
                </a:solidFill>
              </a:defRPr>
            </a:pPr>
            <a:r>
              <a:t>Dual Expiry Strategy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8212F"/>
                </a:solidFill>
              </a:defRPr>
            </a:pPr>
            <a:r>
              <a:t>• Lazy Cleanup — Runs before product reads and new reservations during normal traffic</a:t>
            </a:r>
          </a:p>
          <a:p>
            <a:pPr>
              <a:spcAft>
                <a:spcPts val="600"/>
              </a:spcAft>
              <a:defRPr sz="1400">
                <a:solidFill>
                  <a:srgbClr val="18212F"/>
                </a:solidFill>
              </a:defRPr>
            </a:pPr>
            <a:r>
              <a:t>• Cron Endpoint — POST /api/cron/release-expired every 5 min (Vercel)</a:t>
            </a:r>
          </a:p>
          <a:p>
            <a:pPr>
              <a:spcAft>
                <a:spcPts val="600"/>
              </a:spcAft>
              <a:defRPr sz="1400">
                <a:solidFill>
                  <a:srgbClr val="18212F"/>
                </a:solidFill>
              </a:defRPr>
            </a:pPr>
            <a:r>
              <a:t>• Batch processing — Up to 100 expired holds per transaction</a:t>
            </a:r>
          </a:p>
          <a:p>
            <a:pPr>
              <a:spcAft>
                <a:spcPts val="600"/>
              </a:spcAft>
              <a:defRPr sz="1400">
                <a:solidFill>
                  <a:srgbClr val="18212F"/>
                </a:solidFill>
              </a:defRPr>
            </a:pPr>
            <a:r>
              <a:t>• Configurable window — RESERVATION_WINDOW_MINUTES (default: 10)</a:t>
            </a:r>
          </a:p>
          <a:p>
            <a:pPr>
              <a:spcAft>
                <a:spcPts val="600"/>
              </a:spcAft>
              <a:defRPr sz="1400">
                <a:solidFill>
                  <a:srgbClr val="18212F"/>
                </a:solidFill>
              </a:defRPr>
            </a:pPr>
            <a:r>
              <a:t>• CRON_SECRET — Bearer auth for production cron calls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188720"/>
            <a:ext cx="5303520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32588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766E"/>
                </a:solidFill>
              </a:defRPr>
            </a:pPr>
            <a:r>
              <a:t>Idempotency Support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8288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8212F"/>
                </a:solidFill>
              </a:defRPr>
            </a:pPr>
            <a:r>
              <a:t>• Idempotency-Key header on POST /api/reservations and confirm</a:t>
            </a:r>
          </a:p>
          <a:p>
            <a:pPr>
              <a:spcAft>
                <a:spcPts val="600"/>
              </a:spcAft>
              <a:defRPr sz="1400">
                <a:solidFill>
                  <a:srgbClr val="18212F"/>
                </a:solidFill>
              </a:defRPr>
            </a:pPr>
            <a:r>
              <a:t>• Stored in IdempotencyRecord table (key + method + path)</a:t>
            </a:r>
          </a:p>
          <a:p>
            <a:pPr>
              <a:spcAft>
                <a:spcPts val="600"/>
              </a:spcAft>
              <a:defRPr sz="1400">
                <a:solidFill>
                  <a:srgbClr val="18212F"/>
                </a:solidFill>
              </a:defRPr>
            </a:pPr>
            <a:r>
              <a:t>• Retries return cached response — no duplicate side effects</a:t>
            </a:r>
          </a:p>
          <a:p>
            <a:pPr>
              <a:spcAft>
                <a:spcPts val="600"/>
              </a:spcAft>
              <a:defRPr sz="1400">
                <a:solidFill>
                  <a:srgbClr val="18212F"/>
                </a:solidFill>
              </a:defRPr>
            </a:pPr>
            <a:r>
              <a:t>• In-progress duplicates → 409 IDEMPOTENCY_IN_PROGRESS</a:t>
            </a:r>
          </a:p>
          <a:p>
            <a:pPr>
              <a:spcAft>
                <a:spcPts val="600"/>
              </a:spcAft>
              <a:defRPr sz="1400">
                <a:solidFill>
                  <a:srgbClr val="18212F"/>
                </a:solidFill>
              </a:defRPr>
            </a:pPr>
            <a:r>
              <a:t>• Critical for payment integration (Stripe, Razorpay webhooks)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5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API &amp; Frontend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647084"/>
                </a:solidFill>
              </a:defRPr>
            </a:pPr>
            <a:r>
              <a:t>Allo Inventory Reservations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5E59"/>
                </a:solidFill>
              </a:defRPr>
            </a:pPr>
            <a:r>
              <a:t>REST API Endpoints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188720"/>
          <a:ext cx="109728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Endpoint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Auth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8212F"/>
                          </a:solidFill>
                        </a:defRPr>
                      </a:pPr>
                      <a:r>
                        <a:t>GET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8212F"/>
                          </a:solidFill>
                        </a:defRPr>
                      </a:pPr>
                      <a:r>
                        <a:t>/api/products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8212F"/>
                          </a:solidFill>
                        </a:defRPr>
                      </a:pPr>
                      <a:r>
                        <a:t>List products with per-warehouse stock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8212F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8212F"/>
                          </a:solidFill>
                        </a:defRPr>
                      </a:pPr>
                      <a:r>
                        <a:t>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8212F"/>
                          </a:solidFill>
                        </a:defRPr>
                      </a:pPr>
                      <a:r>
                        <a:t>/api/warehouses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8212F"/>
                          </a:solidFill>
                        </a:defRPr>
                      </a:pPr>
                      <a:r>
                        <a:t>List all warehouses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8212F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8212F"/>
                          </a:solidFill>
                        </a:defRPr>
                      </a:pPr>
                      <a:r>
                        <a:t>POST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8212F"/>
                          </a:solidFill>
                        </a:defRPr>
                      </a:pPr>
                      <a:r>
                        <a:t>/api/reservations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8212F"/>
                          </a:solidFill>
                        </a:defRPr>
                      </a:pPr>
                      <a:r>
                        <a:t>Create reservation (hold units)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8212F"/>
                          </a:solidFill>
                        </a:defRPr>
                      </a:pPr>
                      <a:r>
                        <a:t>Idempotency-Key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8212F"/>
                          </a:solidFill>
                        </a:defRPr>
                      </a:pPr>
                      <a:r>
                        <a:t>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8212F"/>
                          </a:solidFill>
                        </a:defRPr>
                      </a:pPr>
                      <a:r>
                        <a:t>/api/reservations/:id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8212F"/>
                          </a:solidFill>
                        </a:defRPr>
                      </a:pPr>
                      <a:r>
                        <a:t>Get reservation details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8212F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8212F"/>
                          </a:solidFill>
                        </a:defRPr>
                      </a:pPr>
                      <a:r>
                        <a:t>POST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8212F"/>
                          </a:solidFill>
                        </a:defRPr>
                      </a:pPr>
                      <a:r>
                        <a:t>/api/reservations/:id/confirm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8212F"/>
                          </a:solidFill>
                        </a:defRPr>
                      </a:pPr>
                      <a:r>
                        <a:t>Confirm pending hold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8212F"/>
                          </a:solidFill>
                        </a:defRPr>
                      </a:pPr>
                      <a:r>
                        <a:t>Idempotency-Key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8212F"/>
                          </a:solidFill>
                        </a:defRPr>
                      </a:pPr>
                      <a:r>
                        <a:t>POST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8212F"/>
                          </a:solidFill>
                        </a:defRPr>
                      </a:pPr>
                      <a:r>
                        <a:t>/api/reservations/:id/release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8212F"/>
                          </a:solidFill>
                        </a:defRPr>
                      </a:pPr>
                      <a:r>
                        <a:t>Cancel/release hold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8212F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8212F"/>
                          </a:solidFill>
                        </a:defRPr>
                      </a:pPr>
                      <a:r>
                        <a:t>POST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8212F"/>
                          </a:solidFill>
                        </a:defRPr>
                      </a:pPr>
                      <a:r>
                        <a:t>/api/cron/release-expired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8212F"/>
                          </a:solidFill>
                        </a:defRPr>
                      </a:pPr>
                      <a:r>
                        <a:t>Batch release expired holds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8212F"/>
                          </a:solidFill>
                        </a:defRPr>
                      </a:pPr>
                      <a:r>
                        <a:t>Bearer CRON_SECRET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647084"/>
                </a:solidFill>
              </a:defRPr>
            </a:pPr>
            <a:r>
              <a:t>Allo Inventory Reservations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5E59"/>
                </a:solidFill>
              </a:defRPr>
            </a:pPr>
            <a:r>
              <a:t>Error Handling Taxonomy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084"/>
                </a:solidFill>
              </a:defRPr>
            </a:pPr>
            <a:r>
              <a:t>Structured error codes for client-side handling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8212F"/>
                </a:solidFill>
              </a:defRPr>
            </a:pPr>
            <a:r>
              <a:t>400 VALIDATION_ERROR — Invalid request body (Zod validation)</a:t>
            </a:r>
          </a:p>
          <a:p>
            <a:pPr>
              <a:spcAft>
                <a:spcPts val="800"/>
              </a:spcAft>
              <a:defRPr sz="1600">
                <a:solidFill>
                  <a:srgbClr val="18212F"/>
                </a:solidFill>
              </a:defRPr>
            </a:pPr>
            <a:r>
              <a:t>401 UNAUTHORIZED — Cron endpoint without valid CRON_SECRET</a:t>
            </a:r>
          </a:p>
          <a:p>
            <a:pPr>
              <a:spcAft>
                <a:spcPts val="800"/>
              </a:spcAft>
              <a:defRPr sz="1600">
                <a:solidFill>
                  <a:srgbClr val="18212F"/>
                </a:solidFill>
              </a:defRPr>
            </a:pPr>
            <a:r>
              <a:t>404 NOT_FOUND — Reservation not found</a:t>
            </a:r>
          </a:p>
          <a:p>
            <a:pPr>
              <a:spcAft>
                <a:spcPts val="800"/>
              </a:spcAft>
              <a:defRPr sz="1600">
                <a:solidFill>
                  <a:srgbClr val="18212F"/>
                </a:solidFill>
              </a:defRPr>
            </a:pPr>
            <a:r>
              <a:t>409 INSUFFICIENT_STOCK — Not enough available units</a:t>
            </a:r>
          </a:p>
          <a:p>
            <a:pPr>
              <a:spcAft>
                <a:spcPts val="800"/>
              </a:spcAft>
              <a:defRPr sz="1600">
                <a:solidFill>
                  <a:srgbClr val="18212F"/>
                </a:solidFill>
              </a:defRPr>
            </a:pPr>
            <a:r>
              <a:t>409 RESERVATION_RELEASED — Already released, cannot confirm</a:t>
            </a:r>
          </a:p>
          <a:p>
            <a:pPr>
              <a:spcAft>
                <a:spcPts val="800"/>
              </a:spcAft>
              <a:defRPr sz="1600">
                <a:solidFill>
                  <a:srgbClr val="18212F"/>
                </a:solidFill>
              </a:defRPr>
            </a:pPr>
            <a:r>
              <a:t>409 ALREADY_CONFIRMED — Cannot release confirmed reservation</a:t>
            </a:r>
          </a:p>
          <a:p>
            <a:pPr>
              <a:spcAft>
                <a:spcPts val="800"/>
              </a:spcAft>
              <a:defRPr sz="1600">
                <a:solidFill>
                  <a:srgbClr val="18212F"/>
                </a:solidFill>
              </a:defRPr>
            </a:pPr>
            <a:r>
              <a:t>409 IDEMPOTENCY_IN_PROGRESS — Duplicate request still processing</a:t>
            </a:r>
          </a:p>
          <a:p>
            <a:pPr>
              <a:spcAft>
                <a:spcPts val="800"/>
              </a:spcAft>
              <a:defRPr sz="1600">
                <a:solidFill>
                  <a:srgbClr val="18212F"/>
                </a:solidFill>
              </a:defRPr>
            </a:pPr>
            <a:r>
              <a:t>410 RESERVATION_EXPIRED — Hold expired before confirmation</a:t>
            </a:r>
          </a:p>
          <a:p>
            <a:pPr>
              <a:spcAft>
                <a:spcPts val="800"/>
              </a:spcAft>
              <a:defRPr sz="1600">
                <a:solidFill>
                  <a:srgbClr val="18212F"/>
                </a:solidFill>
              </a:defRPr>
            </a:pPr>
            <a:r>
              <a:t>500 INTERNAL_ERROR — Unexpected server error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647084"/>
                </a:solidFill>
              </a:defRPr>
            </a:pPr>
            <a:r>
              <a:t>Allo Inventory Reservations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5E59"/>
                </a:solidFill>
              </a:defRPr>
            </a:pPr>
            <a:r>
              <a:t>Frontend UI/UX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084"/>
                </a:solidFill>
              </a:defRPr>
            </a:pPr>
            <a:r>
              <a:t>Clean, modern interface matching the brand identity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8212F"/>
                </a:solidFill>
              </a:defRPr>
            </a:pPr>
            <a:r>
              <a:t>Design System — Custom CSS with teal brand palette (#0f766e)</a:t>
            </a:r>
          </a:p>
          <a:p>
            <a:pPr lvl="1">
              <a:spcAft>
                <a:spcPts val="800"/>
              </a:spcAft>
              <a:defRPr sz="1400">
                <a:solidFill>
                  <a:srgbClr val="647084"/>
                </a:solidFill>
              </a:defRPr>
            </a:pPr>
            <a:r>
              <a:t>Colors: Brand teal, ink (#18212f), muted (#647084), danger (#b42318)</a:t>
            </a:r>
          </a:p>
          <a:p>
            <a:pPr lvl="1">
              <a:spcAft>
                <a:spcPts val="800"/>
              </a:spcAft>
              <a:defRPr sz="1400">
                <a:solidFill>
                  <a:srgbClr val="647084"/>
                </a:solidFill>
              </a:defRPr>
            </a:pPr>
            <a:r>
              <a:t>Typography: Inter font family with system-ui fallback</a:t>
            </a:r>
          </a:p>
          <a:p>
            <a:pPr lvl="1">
              <a:spcAft>
                <a:spcPts val="800"/>
              </a:spcAft>
              <a:defRPr sz="1400">
                <a:solidFill>
                  <a:srgbClr val="647084"/>
                </a:solidFill>
              </a:defRPr>
            </a:pPr>
            <a:r>
              <a:t>Background: Light gray (#eef3f7) with white surface cards</a:t>
            </a:r>
          </a:p>
          <a:p>
            <a:pPr>
              <a:spcAft>
                <a:spcPts val="800"/>
              </a:spcAft>
              <a:defRPr sz="1600">
                <a:solidFill>
                  <a:srgbClr val="18212F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8212F"/>
                </a:solidFill>
              </a:defRPr>
            </a:pPr>
            <a:r>
              <a:t>Page 1 — Product Listing (/)</a:t>
            </a:r>
          </a:p>
          <a:p>
            <a:pPr lvl="1">
              <a:spcAft>
                <a:spcPts val="800"/>
              </a:spcAft>
              <a:defRPr sz="1400">
                <a:solidFill>
                  <a:srgbClr val="647084"/>
                </a:solidFill>
              </a:defRPr>
            </a:pPr>
            <a:r>
              <a:t>Metric row: Available / Reserved / Total counts in 3-column grid</a:t>
            </a:r>
          </a:p>
          <a:p>
            <a:pPr lvl="1">
              <a:spcAft>
                <a:spcPts val="800"/>
              </a:spcAft>
              <a:defRPr sz="1400">
                <a:solidFill>
                  <a:srgbClr val="647084"/>
                </a:solidFill>
              </a:defRPr>
            </a:pPr>
            <a:r>
              <a:t>Product cards with SKU badge and per-warehouse stock table</a:t>
            </a:r>
          </a:p>
          <a:p>
            <a:pPr lvl="1">
              <a:spcAft>
                <a:spcPts val="800"/>
              </a:spcAft>
              <a:defRPr sz="1400">
                <a:solidFill>
                  <a:srgbClr val="647084"/>
                </a:solidFill>
              </a:defRPr>
            </a:pPr>
            <a:r>
              <a:t>Reserve button per warehouse row (disabled when stock = 0)</a:t>
            </a:r>
          </a:p>
          <a:p>
            <a:pPr>
              <a:spcAft>
                <a:spcPts val="800"/>
              </a:spcAft>
              <a:defRPr sz="1600">
                <a:solidFill>
                  <a:srgbClr val="18212F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8212F"/>
                </a:solidFill>
              </a:defRPr>
            </a:pPr>
            <a:r>
              <a:t>Page 2 — Checkout (/reservations/:id)</a:t>
            </a:r>
          </a:p>
          <a:p>
            <a:pPr lvl="1">
              <a:spcAft>
                <a:spcPts val="800"/>
              </a:spcAft>
              <a:defRPr sz="1400">
                <a:solidFill>
                  <a:srgbClr val="647084"/>
                </a:solidFill>
              </a:defRPr>
            </a:pPr>
            <a:r>
              <a:t>Color-coded status badge (pending / confirmed / released)</a:t>
            </a:r>
          </a:p>
          <a:p>
            <a:pPr lvl="1">
              <a:spcAft>
                <a:spcPts val="800"/>
              </a:spcAft>
              <a:defRPr sz="1400">
                <a:solidFill>
                  <a:srgbClr val="647084"/>
                </a:solidFill>
              </a:defRPr>
            </a:pPr>
            <a:r>
              <a:t>Large MM:SS countdown timer with auto-expiry handling</a:t>
            </a:r>
          </a:p>
          <a:p>
            <a:pPr lvl="1">
              <a:spcAft>
                <a:spcPts val="800"/>
              </a:spcAft>
              <a:defRPr sz="1400">
                <a:solidFill>
                  <a:srgbClr val="647084"/>
                </a:solidFill>
              </a:defRPr>
            </a:pPr>
            <a:r>
              <a:t>Confirm purchase &amp; Cancel buttons with success/cancelled popups</a:t>
            </a:r>
          </a:p>
          <a:p>
            <a:pPr lvl="1">
              <a:spcAft>
                <a:spcPts val="800"/>
              </a:spcAft>
              <a:defRPr sz="1400">
                <a:solidFill>
                  <a:srgbClr val="647084"/>
                </a:solidFill>
              </a:defRPr>
            </a:pPr>
            <a:r>
              <a:t>Responsive design — Mobile breakpoint at 760px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647084"/>
                </a:solidFill>
              </a:defRPr>
            </a:pPr>
            <a:r>
              <a:t>Allo Inventory Reservations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5E59"/>
                </a:solidFill>
              </a:defRPr>
            </a:pPr>
            <a:r>
              <a:t>User Journey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084"/>
                </a:solidFill>
              </a:defRPr>
            </a:pPr>
            <a:r>
              <a:t>End-to-end customer experience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8212F"/>
                </a:solidFill>
              </a:defRPr>
            </a:pPr>
            <a:r>
              <a:t>1. Browse Products — Customer views inventory listing with per-warehouse availability</a:t>
            </a:r>
          </a:p>
          <a:p>
            <a:pPr>
              <a:spcAft>
                <a:spcPts val="800"/>
              </a:spcAft>
              <a:defRPr sz="1600">
                <a:solidFill>
                  <a:srgbClr val="18212F"/>
                </a:solidFill>
              </a:defRPr>
            </a:pPr>
            <a:r>
              <a:t>2. Reserve Unit — Clicks 'Reserve' → API creates PENDING hold → redirects to checkout</a:t>
            </a:r>
          </a:p>
          <a:p>
            <a:pPr>
              <a:spcAft>
                <a:spcPts val="800"/>
              </a:spcAft>
              <a:defRPr sz="1600">
                <a:solidFill>
                  <a:srgbClr val="18212F"/>
                </a:solidFill>
              </a:defRPr>
            </a:pPr>
            <a:r>
              <a:t>3. Checkout Timer — 10-minute countdown displayed with product &amp; warehouse details</a:t>
            </a:r>
          </a:p>
          <a:p>
            <a:pPr>
              <a:spcAft>
                <a:spcPts val="800"/>
              </a:spcAft>
              <a:defRPr sz="1600">
                <a:solidFill>
                  <a:srgbClr val="18212F"/>
                </a:solidFill>
              </a:defRPr>
            </a:pPr>
            <a:r>
              <a:t>4a. Confirm Purchase — Payment succeeds → stock permanently decremented → success popup</a:t>
            </a:r>
          </a:p>
          <a:p>
            <a:pPr>
              <a:spcAft>
                <a:spcPts val="800"/>
              </a:spcAft>
              <a:defRPr sz="1600">
                <a:solidFill>
                  <a:srgbClr val="18212F"/>
                </a:solidFill>
              </a:defRPr>
            </a:pPr>
            <a:r>
              <a:t>4b. Cancel Order — Customer cancels → units returned to available → cancelled popup</a:t>
            </a:r>
          </a:p>
          <a:p>
            <a:pPr>
              <a:spcAft>
                <a:spcPts val="800"/>
              </a:spcAft>
              <a:defRPr sz="1600">
                <a:solidFill>
                  <a:srgbClr val="18212F"/>
                </a:solidFill>
              </a:defRPr>
            </a:pPr>
            <a:r>
              <a:t>4c. Timer Expires — Hold auto-released via lazy cleanup or cron → 410 on confirm attempt</a:t>
            </a:r>
          </a:p>
          <a:p>
            <a:pPr>
              <a:spcAft>
                <a:spcPts val="800"/>
              </a:spcAft>
              <a:defRPr sz="1600">
                <a:solidFill>
                  <a:srgbClr val="18212F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8212F"/>
                </a:solidFill>
              </a:defRPr>
            </a:pPr>
            <a:r>
              <a:t>Frontend sends Idempotency-Key (crypto.randomUUID()) on reserve and confirm requests.</a:t>
            </a:r>
          </a:p>
          <a:p>
            <a:pPr>
              <a:spcAft>
                <a:spcPts val="800"/>
              </a:spcAft>
              <a:defRPr sz="1600">
                <a:solidFill>
                  <a:srgbClr val="18212F"/>
                </a:solidFill>
              </a:defRPr>
            </a:pPr>
            <a:r>
              <a:t>All API fetches use cache: 'no-store' for real-time stock accuracy.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5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Deployment &amp; Future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647084"/>
                </a:solidFill>
              </a:defRPr>
            </a:pPr>
            <a:r>
              <a:t>Allo Inventory Reservations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5E59"/>
                </a:solidFill>
              </a:defRPr>
            </a:pPr>
            <a:r>
              <a:t>Deployment on Vercel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084"/>
                </a:solidFill>
              </a:defRPr>
            </a:pPr>
            <a:r>
              <a:t>Production-ready serverless deployment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8212F"/>
                </a:solidFill>
              </a:defRPr>
            </a:pPr>
            <a:r>
              <a:t>Platform — Vercel serverless with Next.js 15 App Router</a:t>
            </a:r>
          </a:p>
          <a:p>
            <a:pPr>
              <a:spcAft>
                <a:spcPts val="800"/>
              </a:spcAft>
              <a:defRPr sz="1600">
                <a:solidFill>
                  <a:srgbClr val="18212F"/>
                </a:solidFill>
              </a:defRPr>
            </a:pPr>
            <a:r>
              <a:t>Database — Hosted PostgreSQL (Supabase or Neon) with pooled + direct connections</a:t>
            </a:r>
          </a:p>
          <a:p>
            <a:pPr>
              <a:spcAft>
                <a:spcPts val="800"/>
              </a:spcAft>
              <a:defRPr sz="1600">
                <a:solidFill>
                  <a:srgbClr val="18212F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8212F"/>
                </a:solidFill>
              </a:defRPr>
            </a:pPr>
            <a:r>
              <a:t>Environment Variables:</a:t>
            </a:r>
          </a:p>
          <a:p>
            <a:pPr lvl="1">
              <a:spcAft>
                <a:spcPts val="800"/>
              </a:spcAft>
              <a:defRPr sz="1400">
                <a:solidFill>
                  <a:srgbClr val="647084"/>
                </a:solidFill>
              </a:defRPr>
            </a:pPr>
            <a:r>
              <a:t>DATABASE_URL — Pooled Postgres connection</a:t>
            </a:r>
          </a:p>
          <a:p>
            <a:pPr lvl="1">
              <a:spcAft>
                <a:spcPts val="800"/>
              </a:spcAft>
              <a:defRPr sz="1400">
                <a:solidFill>
                  <a:srgbClr val="647084"/>
                </a:solidFill>
              </a:defRPr>
            </a:pPr>
            <a:r>
              <a:t>DIRECT_URL — Direct connection for Prisma migrations</a:t>
            </a:r>
          </a:p>
          <a:p>
            <a:pPr lvl="1">
              <a:spcAft>
                <a:spcPts val="800"/>
              </a:spcAft>
              <a:defRPr sz="1400">
                <a:solidFill>
                  <a:srgbClr val="647084"/>
                </a:solidFill>
              </a:defRPr>
            </a:pPr>
            <a:r>
              <a:t>CRON_SECRET — Bearer token for cron endpoint auth</a:t>
            </a:r>
          </a:p>
          <a:p>
            <a:pPr lvl="1">
              <a:spcAft>
                <a:spcPts val="800"/>
              </a:spcAft>
              <a:defRPr sz="1400">
                <a:solidFill>
                  <a:srgbClr val="647084"/>
                </a:solidFill>
              </a:defRPr>
            </a:pPr>
            <a:r>
              <a:t>RESERVATION_WINDOW_MINUTES — Hold duration (default: 10)</a:t>
            </a:r>
          </a:p>
          <a:p>
            <a:pPr>
              <a:spcAft>
                <a:spcPts val="800"/>
              </a:spcAft>
              <a:defRPr sz="1600">
                <a:solidFill>
                  <a:srgbClr val="18212F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8212F"/>
                </a:solidFill>
              </a:defRPr>
            </a:pPr>
            <a:r>
              <a:t>Deploy Steps: Push to GitHub → Import on Vercel → Set env vars → Deploy → Run migrations &amp; seed</a:t>
            </a:r>
          </a:p>
          <a:p>
            <a:pPr>
              <a:spcAft>
                <a:spcPts val="800"/>
              </a:spcAft>
              <a:defRPr sz="1600">
                <a:solidFill>
                  <a:srgbClr val="18212F"/>
                </a:solidFill>
              </a:defRPr>
            </a:pPr>
            <a:r>
              <a:t>Live Demo: allo-inventory-reservation-2.vercel.app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647084"/>
                </a:solidFill>
              </a:defRPr>
            </a:pPr>
            <a:r>
              <a:t>Allo Inventory Reservations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5E59"/>
                </a:solidFill>
              </a:defRPr>
            </a:pPr>
            <a:r>
              <a:t>Trade-offs &amp; Future Roadmap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88720"/>
            <a:ext cx="5303520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32588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766E"/>
                </a:solidFill>
              </a:defRPr>
            </a:pPr>
            <a:r>
              <a:t>Current Trade-offs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8212F"/>
                </a:solidFill>
              </a:defRPr>
            </a:pPr>
            <a:r>
              <a:t>• Frontend reserves 1 unit per click (API supports up to 99)</a:t>
            </a:r>
          </a:p>
          <a:p>
            <a:pPr>
              <a:spcAft>
                <a:spcPts val="600"/>
              </a:spcAft>
              <a:defRPr sz="1400">
                <a:solidFill>
                  <a:srgbClr val="18212F"/>
                </a:solidFill>
              </a:defRPr>
            </a:pPr>
            <a:r>
              <a:t>• Batch expiry processes 100 reservations per transaction</a:t>
            </a:r>
          </a:p>
          <a:p>
            <a:pPr>
              <a:spcAft>
                <a:spcPts val="600"/>
              </a:spcAft>
              <a:defRPr sz="1400">
                <a:solidFill>
                  <a:srgbClr val="18212F"/>
                </a:solidFill>
              </a:defRPr>
            </a:pPr>
            <a:r>
              <a:t>• Postgres row locks instead of Redis (simpler, sufficient)</a:t>
            </a:r>
          </a:p>
          <a:p>
            <a:pPr>
              <a:spcAft>
                <a:spcPts val="600"/>
              </a:spcAft>
              <a:defRPr sz="1400">
                <a:solidFill>
                  <a:srgbClr val="18212F"/>
                </a:solidFill>
              </a:defRPr>
            </a:pPr>
            <a:r>
              <a:t>• No SQLite fallback — requires hosted Postgres</a:t>
            </a:r>
          </a:p>
          <a:p>
            <a:pPr>
              <a:spcAft>
                <a:spcPts val="600"/>
              </a:spcAft>
              <a:defRPr sz="1400">
                <a:solidFill>
                  <a:srgbClr val="18212F"/>
                </a:solidFill>
              </a:defRPr>
            </a:pPr>
            <a:r>
              <a:t>• Vercel free tier limits cron frequency; lazy cleanup compensates</a:t>
            </a:r>
          </a:p>
          <a:p>
            <a:pPr>
              <a:spcAft>
                <a:spcPts val="600"/>
              </a:spcAft>
              <a:defRPr sz="1400">
                <a:solidFill>
                  <a:srgbClr val="18212F"/>
                </a:solidFill>
              </a:defRPr>
            </a:pPr>
            <a:r>
              <a:t>• No unit/E2E tests yet (concurrency smoke test only)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188720"/>
            <a:ext cx="5303520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32588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766E"/>
                </a:solidFill>
              </a:defRPr>
            </a:pPr>
            <a:r>
              <a:t>Planned Improvements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8288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8212F"/>
                </a:solidFill>
              </a:defRPr>
            </a:pPr>
            <a:r>
              <a:t>• Multi-unit shopping cart (reserve 2, 5, 10 units)</a:t>
            </a:r>
          </a:p>
          <a:p>
            <a:pPr>
              <a:spcAft>
                <a:spcPts val="600"/>
              </a:spcAft>
              <a:defRPr sz="1400">
                <a:solidFill>
                  <a:srgbClr val="18212F"/>
                </a:solidFill>
              </a:defRPr>
            </a:pPr>
            <a:r>
              <a:t>• Admin dashboard for reservation analytics</a:t>
            </a:r>
          </a:p>
          <a:p>
            <a:pPr>
              <a:spcAft>
                <a:spcPts val="600"/>
              </a:spcAft>
              <a:defRPr sz="1400">
                <a:solidFill>
                  <a:srgbClr val="18212F"/>
                </a:solidFill>
              </a:defRPr>
            </a:pPr>
            <a:r>
              <a:t>• Payment integration (Razorpay, Stripe webhooks)</a:t>
            </a:r>
          </a:p>
          <a:p>
            <a:pPr>
              <a:spcAft>
                <a:spcPts val="600"/>
              </a:spcAft>
              <a:defRPr sz="1400">
                <a:solidFill>
                  <a:srgbClr val="18212F"/>
                </a:solidFill>
              </a:defRPr>
            </a:pPr>
            <a:r>
              <a:t>• E2E tests with Playwright</a:t>
            </a:r>
          </a:p>
          <a:p>
            <a:pPr>
              <a:spcAft>
                <a:spcPts val="600"/>
              </a:spcAft>
              <a:defRPr sz="1400">
                <a:solidFill>
                  <a:srgbClr val="18212F"/>
                </a:solidFill>
              </a:defRPr>
            </a:pPr>
            <a:r>
              <a:t>• Better warehouse search &amp; filtering</a:t>
            </a:r>
          </a:p>
          <a:p>
            <a:pPr>
              <a:spcAft>
                <a:spcPts val="600"/>
              </a:spcAft>
              <a:defRPr sz="1400">
                <a:solidFill>
                  <a:srgbClr val="18212F"/>
                </a:solidFill>
              </a:defRPr>
            </a:pPr>
            <a:r>
              <a:t>• Background workers for large-scale expiry cleanup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647084"/>
                </a:solidFill>
              </a:defRPr>
            </a:pPr>
            <a:r>
              <a:t>Allo Inventory Reservations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5E59"/>
                </a:solidFill>
              </a:defRPr>
            </a:pPr>
            <a:r>
              <a:t>Key Takeaways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084"/>
                </a:solidFill>
              </a:defRPr>
            </a:pPr>
            <a:r>
              <a:t>A reliable foundation for e-commerce inventory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8212F"/>
                </a:solidFill>
              </a:defRPr>
            </a:pPr>
            <a:r>
              <a:t>Prevents overselling with atomic, database-level concurrency control.</a:t>
            </a:r>
          </a:p>
          <a:p>
            <a:pPr>
              <a:spcAft>
                <a:spcPts val="800"/>
              </a:spcAft>
              <a:defRPr sz="1600">
                <a:solidFill>
                  <a:srgbClr val="18212F"/>
                </a:solidFill>
              </a:defRPr>
            </a:pPr>
            <a:r>
              <a:t>Production-ready patterns: idempotency, transactional boundaries, structured errors.</a:t>
            </a:r>
          </a:p>
          <a:p>
            <a:pPr>
              <a:spcAft>
                <a:spcPts val="800"/>
              </a:spcAft>
              <a:defRPr sz="1600">
                <a:solidFill>
                  <a:srgbClr val="18212F"/>
                </a:solidFill>
              </a:defRPr>
            </a:pPr>
            <a:r>
              <a:t>Dual expiry strategy ensures inventory is never permanently locked.</a:t>
            </a:r>
          </a:p>
          <a:p>
            <a:pPr>
              <a:spcAft>
                <a:spcPts val="800"/>
              </a:spcAft>
              <a:defRPr sz="1600">
                <a:solidFill>
                  <a:srgbClr val="18212F"/>
                </a:solidFill>
              </a:defRPr>
            </a:pPr>
            <a:r>
              <a:t>Clean layered architecture — easy to extend with payments, admin, analytics.</a:t>
            </a:r>
          </a:p>
          <a:p>
            <a:pPr>
              <a:spcAft>
                <a:spcPts val="800"/>
              </a:spcAft>
              <a:defRPr sz="1600">
                <a:solidFill>
                  <a:srgbClr val="18212F"/>
                </a:solidFill>
              </a:defRPr>
            </a:pPr>
            <a:r>
              <a:t>Modern stack: Next.js 15, React 19, Prisma, PostgreSQL, TypeScript, Vercel.</a:t>
            </a:r>
          </a:p>
          <a:p>
            <a:pPr>
              <a:spcAft>
                <a:spcPts val="800"/>
              </a:spcAft>
              <a:defRPr sz="1600">
                <a:solidFill>
                  <a:srgbClr val="18212F"/>
                </a:solidFill>
              </a:defRPr>
            </a:pPr>
            <a:r>
              <a:t>Verified concurrency safety with automated smoke test.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3657600"/>
            <a:ext cx="3657600" cy="3657600"/>
          </a:xfrm>
          <a:prstGeom prst="ellipse">
            <a:avLst/>
          </a:prstGeom>
          <a:solidFill>
            <a:srgbClr val="0D6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CCFBF1"/>
                </a:solidFill>
              </a:defRPr>
            </a:pPr>
            <a:r>
              <a:t>Questions &amp;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9F6E4"/>
                </a:solidFill>
              </a:defRPr>
            </a:pPr>
            <a:r>
              <a:t>github.com/moganraj05/allo-inventory-reservation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